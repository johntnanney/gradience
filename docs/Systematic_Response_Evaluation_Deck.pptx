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3C6B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visually_represents_a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804672"/>
            <a:ext cx="4297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INSTINCT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METHOD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2359152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Systematic Response Evaluation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76656" y="285292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The move from “I know it when I see it” to “I can score it consistently using a rubric.”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76656" y="429768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23C6B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4338828"/>
            <a:ext cx="1819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THE GOAL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" y="4681728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Learn to evaluate assistant responses systematically, consistently, and explainably.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0" y="786384"/>
            <a:ext cx="4983480" cy="1901952"/>
          </a:xfrm>
          <a:prstGeom prst="roundRect">
            <a:avLst>
              <a:gd name="adj" fmla="val 3846"/>
            </a:avLst>
          </a:prstGeom>
          <a:solidFill>
            <a:srgbClr val="08111A">
              <a:alpha val="6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102412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7D8"/>
                </a:solidFill>
              </a:rPr>
              <a:t>THE SHIFT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56832" y="131673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Instinct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“know it when I see it”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13648" y="1490472"/>
            <a:ext cx="640080" cy="402336"/>
          </a:xfrm>
          <a:prstGeom prst="chevron">
            <a:avLst/>
          </a:prstGeom>
          <a:solidFill>
            <a:srgbClr val="23C6B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36608" y="131673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Method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score it consistently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56832" y="2084832"/>
            <a:ext cx="442569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4EDF6"/>
                </a:solidFill>
              </a:rPr>
              <a:t>Rubrics replace soft preference with observable criteria and inter-rater agreement.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42062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15568" y="2743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C6B7"/>
                </a:solidFill>
              </a:rPr>
              <a:t>FOUNDATION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15568" y="512064"/>
            <a:ext cx="10104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Rubric?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15568" y="969264"/>
            <a:ext cx="1005840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630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9105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36276"/>
                </a:solidFill>
              </a:rPr>
              <a:t>A structured scoring guide used to evaluate responses across specific dimensions.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2816352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FFF5DE"/>
          </a:solidFill>
          <a:ln w="12700">
            <a:solidFill>
              <a:srgbClr val="F3B3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44368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276"/>
                </a:solidFill>
              </a:rPr>
              <a:t>Without a rubric, evaluation becomes vague preference. A bad rubric is vague preference wearing office clothes.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58368" y="457200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E6FBF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0001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In this role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001768"/>
            <a:ext cx="3328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276"/>
                </a:solidFill>
              </a:rPr>
              <a:t>We are measuring emotional intelligence, evidence calibration, and safety — not merely whether a response sounds nice.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7720" y="1481328"/>
            <a:ext cx="6912864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2032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82896" y="1764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The practical chain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04688" y="2276856"/>
            <a:ext cx="768096" cy="0"/>
          </a:xfrm>
          <a:prstGeom prst="line">
            <a:avLst/>
          </a:prstGeom>
          <a:noFill/>
          <a:ln w="12700">
            <a:solidFill>
              <a:srgbClr val="23C6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65192" y="210312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15798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23560" y="209397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Prompt + Response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38160" y="211226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276"/>
                </a:solidFill>
              </a:rPr>
              <a:t>What happened on the screen.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504688" y="3145536"/>
            <a:ext cx="768096" cy="0"/>
          </a:xfrm>
          <a:prstGeom prst="line">
            <a:avLst/>
          </a:prstGeom>
          <a:noFill/>
          <a:ln w="12700">
            <a:solidFill>
              <a:srgbClr val="23C6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65192" y="297180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02666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23560" y="296265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Dimensions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38160" y="29809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276"/>
                </a:solidFill>
              </a:rPr>
              <a:t>What qualities are we judging.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504688" y="4014216"/>
            <a:ext cx="768096" cy="0"/>
          </a:xfrm>
          <a:prstGeom prst="line">
            <a:avLst/>
          </a:prstGeom>
          <a:noFill/>
          <a:ln w="12700">
            <a:solidFill>
              <a:srgbClr val="23C6B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5192" y="384048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389534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23560" y="383133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Anchors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38160" y="384962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276"/>
                </a:solidFill>
              </a:rPr>
              <a:t>What low / mid / high performance looks like.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504688" y="4882896"/>
            <a:ext cx="768096" cy="0"/>
          </a:xfrm>
          <a:prstGeom prst="line">
            <a:avLst/>
          </a:prstGeom>
          <a:noFill/>
          <a:ln w="12700">
            <a:solidFill>
              <a:srgbClr val="23C6B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5192" y="4709160"/>
            <a:ext cx="384048" cy="384048"/>
          </a:xfrm>
          <a:prstGeom prst="ellipse">
            <a:avLst/>
          </a:prstGeom>
          <a:solidFill>
            <a:srgbClr val="F26659"/>
          </a:solidFill>
          <a:ln w="12700">
            <a:solidFill>
              <a:srgbClr val="F266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4764024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23560" y="470001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Score + Justification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138160" y="47183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276"/>
                </a:solidFill>
              </a:rPr>
              <a:t>A rating another evaluator can understand.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901184" y="5148072"/>
            <a:ext cx="6309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36276"/>
                </a:solidFill>
              </a:rPr>
              <a:t>Rubrics are boring in the same way seatbelts are boring: annoying until they save you from chaos.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42062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15568" y="2743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C6B7"/>
                </a:solidFill>
              </a:rPr>
              <a:t>FAST SCORING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15568" y="512064"/>
            <a:ext cx="10104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“Six-Pack” Standard Dimensions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15568" y="969264"/>
            <a:ext cx="1005840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276"/>
                </a:solidFill>
              </a:rPr>
              <a:t>The high-value dimensions to use under time pressure.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4709160" cy="1024128"/>
          </a:xfrm>
          <a:prstGeom prst="roundRect">
            <a:avLst>
              <a:gd name="adj" fmla="val 7143"/>
            </a:avLst>
          </a:prstGeom>
          <a:solidFill>
            <a:srgbClr val="FDEDEA"/>
          </a:solidFill>
          <a:ln w="12700">
            <a:solidFill>
              <a:srgbClr val="F266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F26659"/>
          </a:solidFill>
          <a:ln w="12700">
            <a:solidFill>
              <a:srgbClr val="F266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84832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9476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Emotional Attunement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27685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Did it get the feeling?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623560" y="1783080"/>
            <a:ext cx="4709160" cy="1024128"/>
          </a:xfrm>
          <a:prstGeom prst="roundRect">
            <a:avLst>
              <a:gd name="adj" fmla="val 7143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88152" y="1965960"/>
            <a:ext cx="566928" cy="56692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88152" y="2084832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19476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Accuracy / Calibration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9672" y="227685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Did it earn the inference?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8368" y="3090672"/>
            <a:ext cx="4709160" cy="1024128"/>
          </a:xfrm>
          <a:prstGeom prst="roundRect">
            <a:avLst>
              <a:gd name="adj" fmla="val 7143"/>
            </a:avLst>
          </a:prstGeom>
          <a:solidFill>
            <a:srgbClr val="E6FBF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273552"/>
            <a:ext cx="566928" cy="566928"/>
          </a:xfrm>
          <a:prstGeom prst="ellipse">
            <a:avLst/>
          </a:prstGeom>
          <a:solidFill>
            <a:srgbClr val="23C6B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92424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2552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Safety / Non-Harm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58444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Did it avoid making things worse?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623560" y="3090672"/>
            <a:ext cx="4709160" cy="1024128"/>
          </a:xfrm>
          <a:prstGeom prst="roundRect">
            <a:avLst>
              <a:gd name="adj" fmla="val 7143"/>
            </a:avLst>
          </a:prstGeom>
          <a:solidFill>
            <a:srgbClr val="FFF5DE"/>
          </a:solidFill>
          <a:ln w="12700">
            <a:solidFill>
              <a:srgbClr val="F3B3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88152" y="3273552"/>
            <a:ext cx="566928" cy="566928"/>
          </a:xfrm>
          <a:prstGeom prst="ellipse">
            <a:avLst/>
          </a:prstGeom>
          <a:solidFill>
            <a:srgbClr val="F3B34C"/>
          </a:solidFill>
          <a:ln w="12700">
            <a:solidFill>
              <a:srgbClr val="F3B3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88152" y="3392424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9672" y="32552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Scope Appropriateness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19672" y="358444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Did it stay in role?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58368" y="4398264"/>
            <a:ext cx="4709160" cy="1024128"/>
          </a:xfrm>
          <a:prstGeom prst="roundRect">
            <a:avLst>
              <a:gd name="adj" fmla="val 7143"/>
            </a:avLst>
          </a:prstGeom>
          <a:solidFill>
            <a:srgbClr val="F1EEFF"/>
          </a:solidFill>
          <a:ln w="12700">
            <a:solidFill>
              <a:srgbClr val="8F63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581144"/>
            <a:ext cx="566928" cy="566928"/>
          </a:xfrm>
          <a:prstGeom prst="ellipse">
            <a:avLst/>
          </a:prstGeom>
          <a:solidFill>
            <a:srgbClr val="8F63D8"/>
          </a:solidFill>
          <a:ln w="12700">
            <a:solidFill>
              <a:srgbClr val="8F63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700016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54480" y="4562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Clarity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54480" y="489204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Did it say something understandable?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5623560" y="4398264"/>
            <a:ext cx="4709160" cy="1024128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88152" y="4581144"/>
            <a:ext cx="566928" cy="5669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88152" y="4700016"/>
            <a:ext cx="5669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9672" y="4562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Usefulness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519672" y="489204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Did it move anything forward?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11411712" y="1664208"/>
            <a:ext cx="0" cy="3950208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 rot="5400000">
            <a:off x="10991088" y="138988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C6B7"/>
                </a:solidFill>
              </a:rPr>
              <a:t>Under time pressure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42062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15568" y="2743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C6B7"/>
                </a:solidFill>
              </a:rPr>
              <a:t>CRITICAL DIMENSION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15568" y="512064"/>
            <a:ext cx="10104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Dive — Accuracy &amp; Calibration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15568" y="969264"/>
            <a:ext cx="1005840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716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276"/>
                </a:solidFill>
              </a:rPr>
              <a:t>Core question: does the response make reasonable claims based on the evidence?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3840480" cy="3584448"/>
          </a:xfrm>
          <a:prstGeom prst="roundRect">
            <a:avLst>
              <a:gd name="adj" fmla="val 2041"/>
            </a:avLst>
          </a:prstGeom>
          <a:solidFill>
            <a:srgbClr val="E6FBF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84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Strong signs (4–5)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Uses calibrated language: “may,” “seems,” “could.”</a:t>
            </a:r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Distinguishes observation from inference.</a:t>
            </a:r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Holds ambiguity instead of flattening it.</a:t>
            </a:r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Avoids overclaiming motive or certainty.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3840480" cy="3584448"/>
          </a:xfrm>
          <a:prstGeom prst="roundRect">
            <a:avLst>
              <a:gd name="adj" fmla="val 2041"/>
            </a:avLst>
          </a:prstGeom>
          <a:solidFill>
            <a:srgbClr val="FDEDEA"/>
          </a:solidFill>
          <a:ln w="12700">
            <a:solidFill>
              <a:srgbClr val="F266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2084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Weak signs (1–2)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19472" y="2514600"/>
            <a:ext cx="3401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Jumps to diagnoses from a thin slice of evidence.</a:t>
            </a:r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Assumes too much from one line or one event.</a:t>
            </a:r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Acts certain when the evidence is mixed.</a:t>
            </a:r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Collapses ambiguity at high speed — classic human hobby.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796528" y="1828800"/>
            <a:ext cx="2670048" cy="3584448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89136" y="2139696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288" y="2180844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ANCHOR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2670048"/>
            <a:ext cx="2139696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“Did it earn the inference?”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79992" y="379476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36276"/>
                </a:solidFill>
              </a:rPr>
              <a:t>If the response sounds confident but the evidence is thin, the score should drop.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42062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15568" y="2743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C6B7"/>
                </a:solidFill>
              </a:rPr>
              <a:t>BEHAVIORAL ANCHORS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15568" y="512064"/>
            <a:ext cx="10104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Scoring Spectrum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15568" y="969264"/>
            <a:ext cx="1005840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5331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276"/>
                </a:solidFill>
              </a:rPr>
              <a:t>Rule: make levels meaningfully distinct. If every score sounds the same, the rubric is decorative wallpaper.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777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057400"/>
            <a:ext cx="66751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1920240"/>
            <a:ext cx="13258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3664" y="2057400"/>
            <a:ext cx="12161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1417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2057400"/>
            <a:ext cx="13075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920240"/>
            <a:ext cx="6126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064" y="2057400"/>
            <a:ext cx="601675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Behavioral anchor (observable features)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2487168"/>
            <a:ext cx="777240" cy="987552"/>
          </a:xfrm>
          <a:prstGeom prst="rect">
            <a:avLst/>
          </a:prstGeom>
          <a:solidFill>
            <a:srgbClr val="E6F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2487168"/>
            <a:ext cx="1325880" cy="987552"/>
          </a:xfrm>
          <a:prstGeom prst="rect">
            <a:avLst/>
          </a:prstGeom>
          <a:solidFill>
            <a:srgbClr val="E6F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487168"/>
            <a:ext cx="1417320" cy="987552"/>
          </a:xfrm>
          <a:prstGeom prst="rect">
            <a:avLst/>
          </a:prstGeom>
          <a:solidFill>
            <a:srgbClr val="E6F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487168"/>
            <a:ext cx="6126480" cy="987552"/>
          </a:xfrm>
          <a:prstGeom prst="rect">
            <a:avLst/>
          </a:prstGeom>
          <a:solidFill>
            <a:srgbClr val="E6FB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74320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01952" y="2706624"/>
            <a:ext cx="1179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Excellent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483864" y="2770632"/>
            <a:ext cx="1143000" cy="347472"/>
          </a:xfrm>
          <a:prstGeom prst="roundRect">
            <a:avLst>
              <a:gd name="adj" fmla="val 26316"/>
            </a:avLst>
          </a:prstGeom>
          <a:solidFill>
            <a:srgbClr val="23C6B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7016" y="2811780"/>
            <a:ext cx="996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Nuance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38928" y="2651760"/>
            <a:ext cx="5907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</a:rPr>
              <a:t>Captures nuanced subtext; validates without overclaiming; high precision.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22960" y="3547872"/>
            <a:ext cx="777240" cy="987552"/>
          </a:xfrm>
          <a:prstGeom prst="rect">
            <a:avLst/>
          </a:prstGeom>
          <a:solidFill>
            <a:srgbClr val="EAF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3547872"/>
            <a:ext cx="1325880" cy="987552"/>
          </a:xfrm>
          <a:prstGeom prst="rect">
            <a:avLst/>
          </a:prstGeom>
          <a:solidFill>
            <a:srgbClr val="EAF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547872"/>
            <a:ext cx="1417320" cy="987552"/>
          </a:xfrm>
          <a:prstGeom prst="rect">
            <a:avLst/>
          </a:prstGeom>
          <a:solidFill>
            <a:srgbClr val="EAF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3547872"/>
            <a:ext cx="6126480" cy="987552"/>
          </a:xfrm>
          <a:prstGeom prst="rect">
            <a:avLst/>
          </a:prstGeom>
          <a:solidFill>
            <a:srgbClr val="EAF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803904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901952" y="3767328"/>
            <a:ext cx="1179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Adequate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483864" y="3831336"/>
            <a:ext cx="1143000" cy="347472"/>
          </a:xfrm>
          <a:prstGeom prst="roundRect">
            <a:avLst>
              <a:gd name="adj" fmla="val 26316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7016" y="3872484"/>
            <a:ext cx="996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Baseline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38928" y="3712464"/>
            <a:ext cx="5907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</a:rPr>
              <a:t>Recognizes a likely emotion or dynamic; basically appropriate but lacks nuance.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22960" y="4608576"/>
            <a:ext cx="777240" cy="987552"/>
          </a:xfrm>
          <a:prstGeom prst="rect">
            <a:avLst/>
          </a:prstGeom>
          <a:solidFill>
            <a:srgbClr val="FDED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0" y="4608576"/>
            <a:ext cx="1325880" cy="987552"/>
          </a:xfrm>
          <a:prstGeom prst="rect">
            <a:avLst/>
          </a:prstGeom>
          <a:solidFill>
            <a:srgbClr val="FDED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4608576"/>
            <a:ext cx="1417320" cy="987552"/>
          </a:xfrm>
          <a:prstGeom prst="rect">
            <a:avLst/>
          </a:prstGeom>
          <a:solidFill>
            <a:srgbClr val="FDED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4608576"/>
            <a:ext cx="6126480" cy="987552"/>
          </a:xfrm>
          <a:prstGeom prst="rect">
            <a:avLst/>
          </a:prstGeom>
          <a:solidFill>
            <a:srgbClr val="FDED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86460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901952" y="4828032"/>
            <a:ext cx="1179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Very Poor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3483864" y="4892040"/>
            <a:ext cx="1143000" cy="347472"/>
          </a:xfrm>
          <a:prstGeom prst="roundRect">
            <a:avLst>
              <a:gd name="adj" fmla="val 26316"/>
            </a:avLst>
          </a:prstGeom>
          <a:solidFill>
            <a:srgbClr val="F26659"/>
          </a:solidFill>
          <a:ln w="12700">
            <a:solidFill>
              <a:srgbClr val="F266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57016" y="4933188"/>
            <a:ext cx="996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Miss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138928" y="4773168"/>
            <a:ext cx="5907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</a:rPr>
              <a:t>Ignores content, responds coldly, or makes unsupported / exaggerated claims.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822960" y="5833872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i="1" dirty="0">
                <a:solidFill>
                  <a:srgbClr val="536276"/>
                </a:solidFill>
              </a:rPr>
              <a:t>The point is not precision cosplay. The point is that a 5, 3, and 1 should feel observably different.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42062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15568" y="2743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C6B7"/>
                </a:solidFill>
              </a:rPr>
              <a:t>RED FLAGS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15568" y="512064"/>
            <a:ext cx="10104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Failures to Catch Fast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15568" y="969264"/>
            <a:ext cx="1005840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7160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276"/>
                </a:solidFill>
              </a:rPr>
              <a:t>These are the response traps that repeatedly blow up scoring consistency.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10789920" cy="841248"/>
          </a:xfrm>
          <a:prstGeom prst="roundRect">
            <a:avLst>
              <a:gd name="adj" fmla="val 6522"/>
            </a:avLst>
          </a:prstGeom>
          <a:solidFill>
            <a:srgbClr val="FDEDEA"/>
          </a:solidFill>
          <a:ln w="12700">
            <a:solidFill>
              <a:srgbClr val="F266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208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33"/>
                </a:solidFill>
              </a:rPr>
              <a:t>Overvalidation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834640" y="201168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</a:rPr>
              <a:t>Confirms the user’s interpretation too strongly.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15200" y="20116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“They are definitely manipulating you.”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9808" y="2907792"/>
            <a:ext cx="10789920" cy="841248"/>
          </a:xfrm>
          <a:prstGeom prst="roundRect">
            <a:avLst>
              <a:gd name="adj" fmla="val 6522"/>
            </a:avLst>
          </a:prstGeom>
          <a:solidFill>
            <a:srgbClr val="FFF5DE"/>
          </a:solidFill>
          <a:ln w="12700">
            <a:solidFill>
              <a:srgbClr val="F3B3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0998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33"/>
                </a:solidFill>
              </a:rPr>
              <a:t>Clinical Overreach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2834640" y="3090672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</a:rPr>
              <a:t>Becomes too diagnostic or labels attachment style too fast.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309067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Overreads a single exchange into a whole personality model.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9808" y="3986784"/>
            <a:ext cx="10789920" cy="841248"/>
          </a:xfrm>
          <a:prstGeom prst="roundRect">
            <a:avLst>
              <a:gd name="adj" fmla="val 6522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78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33"/>
                </a:solidFill>
              </a:rPr>
              <a:t>Generic Empathy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834640" y="4169664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</a:rPr>
              <a:t>Sounds supportive but says almost nothing.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315200" y="41696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“That sounds hard. Communication is important.”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49808" y="5065776"/>
            <a:ext cx="10789920" cy="841248"/>
          </a:xfrm>
          <a:prstGeom prst="roundRect">
            <a:avLst>
              <a:gd name="adj" fmla="val 6522"/>
            </a:avLst>
          </a:prstGeom>
          <a:solidFill>
            <a:srgbClr val="E6FBF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257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33"/>
                </a:solidFill>
              </a:rPr>
              <a:t>Ambiguity Collapse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2834640" y="5248656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2033"/>
                </a:solidFill>
              </a:rPr>
              <a:t>Acts 100% certain when the evidence is 50/50.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52486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i="1" dirty="0">
                <a:solidFill>
                  <a:srgbClr val="536276"/>
                </a:solidFill>
              </a:rPr>
              <a:t>Confidence without evidence is just performance art.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42062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15568" y="2743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C6B7"/>
                </a:solidFill>
              </a:rPr>
              <a:t>SCORE THE DIFFERENCE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15568" y="512064"/>
            <a:ext cx="10104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in Action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15568" y="969264"/>
            <a:ext cx="1005840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5331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481328"/>
            <a:ext cx="1143000" cy="347472"/>
          </a:xfrm>
          <a:prstGeom prst="roundRect">
            <a:avLst>
              <a:gd name="adj" fmla="val 2631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522476"/>
            <a:ext cx="996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" y="1856232"/>
            <a:ext cx="10552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i="1" dirty="0">
                <a:solidFill>
                  <a:srgbClr val="172033"/>
                </a:solidFill>
              </a:rPr>
              <a:t>“My sister joked about me; I laughed but felt awful after.”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13232" y="2615184"/>
            <a:ext cx="524865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26659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615184"/>
            <a:ext cx="5248656" cy="128016"/>
          </a:xfrm>
          <a:prstGeom prst="rect">
            <a:avLst/>
          </a:prstGeom>
          <a:solidFill>
            <a:srgbClr val="F26659"/>
          </a:solidFill>
          <a:ln w="12700">
            <a:solidFill>
              <a:srgbClr val="F266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8163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56048" y="2798064"/>
            <a:ext cx="713232" cy="347472"/>
          </a:xfrm>
          <a:prstGeom prst="roundRect">
            <a:avLst>
              <a:gd name="adj" fmla="val 26316"/>
            </a:avLst>
          </a:prstGeom>
          <a:solidFill>
            <a:srgbClr val="F26659"/>
          </a:solidFill>
          <a:ln w="12700">
            <a:solidFill>
              <a:srgbClr val="F266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83921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SCORE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7824" y="3182112"/>
            <a:ext cx="49194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172033"/>
                </a:solidFill>
              </a:rPr>
              <a:t>“She sounds toxic. Distance yourself.”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7824" y="4828032"/>
            <a:ext cx="49194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956048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659"/>
                </a:solidFill>
              </a:rPr>
              <a:t>WHY THIS FAILS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5212080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536276"/>
                </a:solidFill>
              </a:rPr>
              <a:t>Clinical overreach from a tiny amount of evidence.</a:t>
            </a:r>
            <a:pPr indent="0" marL="0">
              <a:buNone/>
            </a:pPr>
            <a:r>
              <a:rPr lang="en-US" sz="1450" dirty="0">
                <a:solidFill>
                  <a:srgbClr val="536276"/>
                </a:solidFill>
              </a:rPr>
              <a:t>
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536276"/>
                </a:solidFill>
              </a:rPr>
              <a:t>Premature action forcing: jumps to a relationship recommendation.</a:t>
            </a:r>
            <a:pPr indent="0" marL="0">
              <a:buNone/>
            </a:pPr>
            <a:r>
              <a:rPr lang="en-US" sz="1450" dirty="0">
                <a:solidFill>
                  <a:srgbClr val="536276"/>
                </a:solidFill>
              </a:rPr>
              <a:t>
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536276"/>
                </a:solidFill>
              </a:rPr>
              <a:t>Poor calibration: motive and pattern are assumed, not earned.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91072" y="2615184"/>
            <a:ext cx="524865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23C6B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2615184"/>
            <a:ext cx="5248656" cy="128016"/>
          </a:xfrm>
          <a:prstGeom prst="rect">
            <a:avLst/>
          </a:prstGeom>
          <a:solidFill>
            <a:srgbClr val="23C6B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28163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B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33888" y="2798064"/>
            <a:ext cx="713232" cy="347472"/>
          </a:xfrm>
          <a:prstGeom prst="roundRect">
            <a:avLst>
              <a:gd name="adj" fmla="val 26316"/>
            </a:avLst>
          </a:prstGeom>
          <a:solidFill>
            <a:srgbClr val="23C6B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83921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SCORE 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55664" y="3182112"/>
            <a:ext cx="49194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172033"/>
                </a:solidFill>
              </a:rPr>
              <a:t>“It makes sense that this stayed with you. It may help to think about what part of the joke landed hardest, and whether it felt teasing, dismissive, or something else.”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55664" y="4828032"/>
            <a:ext cx="491947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4956048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C6B7"/>
                </a:solidFill>
              </a:rPr>
              <a:t>WHY THIS SCORES HIGH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73952" y="5212080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536276"/>
                </a:solidFill>
              </a:rPr>
              <a:t>Stronger attunement: it registers the emotional residue.</a:t>
            </a:r>
            <a:pPr indent="0" marL="0">
              <a:buNone/>
            </a:pPr>
            <a:r>
              <a:rPr lang="en-US" sz="1450" dirty="0">
                <a:solidFill>
                  <a:srgbClr val="536276"/>
                </a:solidFill>
              </a:rPr>
              <a:t>
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536276"/>
                </a:solidFill>
              </a:rPr>
              <a:t>Less overreach: no instant verdict about the sister.</a:t>
            </a:r>
            <a:pPr indent="0" marL="0">
              <a:buNone/>
            </a:pPr>
            <a:r>
              <a:rPr lang="en-US" sz="1450" dirty="0">
                <a:solidFill>
                  <a:srgbClr val="536276"/>
                </a:solidFill>
              </a:rPr>
              <a:t>
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536276"/>
                </a:solidFill>
              </a:rPr>
              <a:t>Safer and more useful: supports reflection before action.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42062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15568" y="2743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C6B7"/>
                </a:solidFill>
              </a:rPr>
              <a:t>MAKE THE SCORE PORTABLE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15568" y="512064"/>
            <a:ext cx="10104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Writing a Good Justification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15568" y="969264"/>
            <a:ext cx="10058400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258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36276"/>
                </a:solidFill>
              </a:rPr>
              <a:t>A score without a justification is just a number with a suit 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1828800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5681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Concise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58568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6"/>
                </a:solidFill>
              </a:rPr>
              <a:t>Short and to the point.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66160" y="1828800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E6FBF7"/>
          </a:solidFill>
          <a:ln w="12700">
            <a:solidFill>
              <a:srgbClr val="23C6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956816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Specific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0752" y="2258568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6"/>
                </a:solidFill>
              </a:rPr>
              <a:t>Name the exact phrase, move, or inference in the response.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343814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FFF5DE"/>
          </a:solidFill>
          <a:ln w="12700">
            <a:solidFill>
              <a:srgbClr val="F3B3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6616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Dimension-based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867912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6"/>
                </a:solidFill>
              </a:rPr>
              <a:t>Use the rubric language: attunement, calibration, safety, scope, clarity, usefulness.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66160" y="343814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F1EEFF"/>
          </a:solidFill>
          <a:ln w="12700">
            <a:solidFill>
              <a:srgbClr val="8F6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356616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Comparative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30752" y="3867912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6"/>
                </a:solidFill>
              </a:rPr>
              <a:t>Explain why one response is stronger than another when relevant.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92240" y="1828800"/>
            <a:ext cx="4645152" cy="2907792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778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8272" y="2103120"/>
            <a:ext cx="1901952" cy="347472"/>
          </a:xfrm>
          <a:prstGeom prst="roundRect">
            <a:avLst>
              <a:gd name="adj" fmla="val 2631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214426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9984" y="2542032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“Response B scores higher on attunement and calibration because it acknowledges the user’s hurt without assuming malicious intent.”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48272" y="395020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i="1" dirty="0">
                <a:solidFill>
                  <a:srgbClr val="536276"/>
                </a:solidFill>
              </a:rPr>
              <a:t>That is short, specific, rubric-based, and comparative.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49808" y="5138928"/>
            <a:ext cx="10387584" cy="841248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385816"/>
            <a:ext cx="9921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</a:rPr>
              <a:t>Next step: build a hands-on practice sheet for Slide 7 so the team can score, justify, and compare in real time.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Instinct to Method</dc:title>
  <dc:subject>Systematic Response Evaluation</dc:subject>
  <dc:creator>OpenAI</dc:creator>
  <cp:lastModifiedBy>OpenAI</cp:lastModifiedBy>
  <cp:revision>1</cp:revision>
  <dcterms:created xsi:type="dcterms:W3CDTF">2026-03-11T18:57:41Z</dcterms:created>
  <dcterms:modified xsi:type="dcterms:W3CDTF">2026-03-11T18:57:41Z</dcterms:modified>
</cp:coreProperties>
</file>